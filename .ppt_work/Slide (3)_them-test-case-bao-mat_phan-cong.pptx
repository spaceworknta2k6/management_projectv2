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theme/theme2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96" r:id="rId23"/>
    <p:sldId id="257" r:id="rId3"/>
    <p:sldId id="290" r:id="rId4"/>
    <p:sldId id="259" r:id="rId5"/>
    <p:sldId id="292" r:id="rId6"/>
    <p:sldId id="293" r:id="rId7"/>
    <p:sldId id="261" r:id="rId8"/>
    <p:sldId id="268" r:id="rId9"/>
    <p:sldId id="262" r:id="rId10"/>
    <p:sldId id="263" r:id="rId11"/>
    <p:sldId id="264" r:id="rId12"/>
    <p:sldId id="265" r:id="rId13"/>
    <p:sldId id="294" r:id="rId21"/>
    <p:sldId id="295" r:id="rId22"/>
    <p:sldId id="266" r:id="rId14"/>
    <p:sldId id="28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218" d="100"/>
          <a:sy n="218" d="100"/>
        </p:scale>
        <p:origin x="-9120" y="-1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2081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463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KẾ WEB NÂNG CAO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33756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i="1" dirty="0">
                <a:solidFill>
                  <a:srgbClr val="06B6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Karl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0" y="4206240"/>
            <a:ext cx="395935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 thực hiện: </a:t>
            </a:r>
            <a:r>
              <a:rPr lang="en-US" sz="15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</a:t>
            </a: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04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Thành viên: 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Tuấn Anh – 24100051 |  Nguyễn Tuấn Anh - 24100351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5212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GVHD: </a:t>
            </a: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Văn </a:t>
            </a:r>
            <a:r>
              <a:rPr lang="en-US" sz="15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Tánh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Đại học Phenikaa - Năm học 2025-2026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GIỚI THIỆU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Đặt vấn đề &amp; Mục tiêu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486400" cy="4709160"/>
          </a:xfrm>
          <a:prstGeom prst="roundRect">
            <a:avLst>
              <a:gd name="adj" fmla="val 1942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VẤN ĐỀ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đồ án thủ công, thông tin phân tán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Khó theo dõi tiến độ, deadline từng nhóm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 &amp; tổng hợp mất thời gian, dễ sai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Quy trình phúc khảo chưa rõ ràng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Trao đổi SV - GV không tập trung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6002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4983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Xây dựng hệ thống web quản lý đồ án tập trung</a:t>
            </a:r>
            <a:endParaRPr lang="en-US" sz="1400" dirty="0"/>
          </a:p>
          <a:p>
            <a:pPr marL="508000" lvl="1" indent="-2540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Số hóa toàn bộ quy trình từ đăng ký đến phúc khảo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quyền 4 vai trò rõ ràng</a:t>
            </a:r>
            <a:endParaRPr lang="en-US" sz="1400" dirty="0"/>
          </a:p>
          <a:p>
            <a:pPr marL="508000" lvl="1" indent="-2540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Admin, Giáo vụ, Giảng viên, Sinh viên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&amp; thông báo thời gian thực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 minh bạch, tự tổng hợp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Bảo mật, responsive, dễ dùng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CÔNG NGHỆ &amp; KIẾN TRÚC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Công nghệ sử dụng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3200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Next.js 16 (nền tảng web)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19 (giao diện)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Zustand (quản lý dữ liệu)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Tailwind CSS (thiết kế)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Socket.io (thời gian thực)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ECF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768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MÁY CHỦ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194560"/>
            <a:ext cx="3200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Express (máy chủ web)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JWT (xác thực đăng nhập)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bcrypt (mã hóa mật khẩu)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Multer (tải file lên)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Socket.io (thời gian thực)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DỮ LIỆU &amp; KIỂM THỬ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2194560"/>
            <a:ext cx="3200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(cơ sở dữ liệu)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Prisma (ORM)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Playwright (kiểm thử tự động)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Kiến trúc chia chức năng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Dễ bảo trì, mở rộng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CÔNG NGHỆ &amp; KIẾN TRÚC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Kiến trúc hệ thống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Trình duyệt web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Desktop / Mobile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 responsive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92024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606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FA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Xử lý nghiệp vụ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FFA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tra quyền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FFA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Điều phối dữ liệu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192024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2606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PostgreSQL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D1FA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Lưu người dùng, đồ án,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1FA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điểm, tin nhắn...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2926080"/>
            <a:ext cx="8686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35240" y="2926080"/>
            <a:ext cx="8686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5537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nối thời gian thực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9194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và thông báo hiển thị ngay lập tức, không cần tải lại trang - gửi tức thời đến đúng người dùng.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KẾ HỆ THỐNG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Sơ đồ Cơ sở dữ liệu (ERD) – Các bảng chính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1920240" cy="1152144"/>
          </a:xfrm>
          <a:prstGeom prst="rect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1920240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371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Người dùng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179222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Họ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tên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Email</a:t>
            </a: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Vai trò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1920240" cy="1152144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1920240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200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Sinh viên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" y="362102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Mã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SV</a:t>
            </a: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Lớp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Ngành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84632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4846320"/>
            <a:ext cx="1920240" cy="38404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Giảng viên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52669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Mã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GV</a:t>
            </a: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Chuyên môn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68880" y="1371600"/>
            <a:ext cx="1920240" cy="1152144"/>
          </a:xfrm>
          <a:prstGeom prst="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468880" y="1371600"/>
            <a:ext cx="1920240" cy="38404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68880" y="1371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Đợt đồ án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78608" y="179222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Tên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đợt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Học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kỳ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Tiêu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chí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0" y="347472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6366F1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468880" y="3474720"/>
            <a:ext cx="1920240" cy="38404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68880" y="3474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578608" y="38953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Tên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Thành viên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37160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1371600"/>
            <a:ext cx="1920240" cy="38404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1371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Đề tài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73168" y="179222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Tiêu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đề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GV hướng dẫn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47472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3474720"/>
            <a:ext cx="192024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3474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73168" y="38953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Đề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tài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GVHD, GVPB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858000" y="1371600"/>
            <a:ext cx="1920240" cy="38404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58000" y="1371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Bài nộp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967728" y="179222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Giai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đoạn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Tệp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đính kèm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58000" y="320040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857999" y="3191255"/>
            <a:ext cx="1920240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58000" y="3200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Phiếu chấm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967728" y="362102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Tiêu chí- Điểm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58000" y="484632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858000" y="4846320"/>
            <a:ext cx="1920240" cy="38404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58000" y="4846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967728" y="52669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Nội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dung</a:t>
            </a: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Thời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gian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052560" y="3017520"/>
            <a:ext cx="19202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052560" y="3017520"/>
            <a:ext cx="1920240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052560" y="3017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Điểm TH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162288" y="343814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Điểm, xếp loại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52560" y="466344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052560" y="4663440"/>
            <a:ext cx="192024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052560" y="4663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Phúc khảo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162288" y="50840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Lý do</a:t>
            </a: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quả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234440" y="2523744"/>
            <a:ext cx="0" cy="676656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60120" y="2724912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 flipH="1">
            <a:off x="91440" y="1947672"/>
            <a:ext cx="182880" cy="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1440" y="1947672"/>
            <a:ext cx="0" cy="3346704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1440" y="5294376"/>
            <a:ext cx="182880" cy="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-182880" y="5157216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429000" y="2523744"/>
            <a:ext cx="0" cy="950976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154680" y="2862072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 flipV="1">
            <a:off x="4389120" y="1819656"/>
            <a:ext cx="274320" cy="128016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251960" y="1746504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389120" y="3922776"/>
            <a:ext cx="274320" cy="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251960" y="3785616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623560" y="2267712"/>
            <a:ext cx="0" cy="1207008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349240" y="2734056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 flipV="1">
            <a:off x="6583680" y="1819656"/>
            <a:ext cx="274320" cy="210312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446520" y="2734056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1-n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 flipH="1">
            <a:off x="6400800" y="3922776"/>
            <a:ext cx="182880" cy="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 flipV="1">
            <a:off x="6400800" y="3648456"/>
            <a:ext cx="0" cy="27432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400800" y="3648456"/>
            <a:ext cx="457200" cy="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510528" y="4023360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1-n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 flipV="1">
            <a:off x="8778240" y="3337560"/>
            <a:ext cx="274320" cy="310896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012680" y="3657600"/>
            <a:ext cx="0" cy="100584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738360" y="4023360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1-n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429000" y="4370832"/>
            <a:ext cx="0" cy="201168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429000" y="4572000"/>
            <a:ext cx="4389120" cy="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818120" y="4572000"/>
            <a:ext cx="0" cy="27432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543800" y="4434840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1-n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029200" y="61722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bảng chính – các bảng bổ sung xem slide tiếp theo.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KẾ HỆ THỐNG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Sơ đồ CSDL – Các bảng bổ sung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34747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3474720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Milestone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18470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Tên mốc, Hạn chót, Thứ tự→ Đợt đồ án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463040"/>
            <a:ext cx="34747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1463040"/>
            <a:ext cx="3474720" cy="34747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 đính kèm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07408" y="18470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Tên file, URL, Loại→ Bài nộp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1463040"/>
            <a:ext cx="34747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0" y="1463040"/>
            <a:ext cx="3474720" cy="3474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Tiêu chí chấm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39328" y="18470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Tên tiêu chí, Trọng số→ Phiếu chấm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34747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6366F1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3474720" cy="3474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DS lớp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" y="37673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Mã SV, Lớp→ Đợt đồ án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3383280"/>
            <a:ext cx="34747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97680" y="3383280"/>
            <a:ext cx="3474720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 hạn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07408" y="37673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Hạn mới, Lý do, Trạng thái→ Đồ án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0" y="3383280"/>
            <a:ext cx="34747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29600" y="3383280"/>
            <a:ext cx="3474720" cy="34747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 ký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39328" y="37673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Hành động, Người dùng, TG→ Đồ án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521208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5285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Mũi tên (→) chỉ bảng chính mà bảng bổ sung liên kết tới. Cả 6 bảng này đều cần thiết để hệ thống vận hành đầy đủ.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TÍCH 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Sơ đồ Use Case tổng quan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8FAFC"/>
          </a:solidFill>
          <a:ln w="19050">
            <a:solidFill>
              <a:srgbClr val="6366F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48132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KARL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" y="1737360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2688" y="2029968"/>
            <a:ext cx="54864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4088" y="2139696"/>
            <a:ext cx="512064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0120" y="2414016"/>
            <a:ext cx="0" cy="27432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2414016"/>
            <a:ext cx="201168" cy="27432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2880" y="27249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trị viên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" y="4206240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2688" y="4498848"/>
            <a:ext cx="54864" cy="38404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4088" y="4608576"/>
            <a:ext cx="512064" cy="0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0120" y="4882896"/>
            <a:ext cx="0" cy="274320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60120" y="4882896"/>
            <a:ext cx="201168" cy="274320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" y="51937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Giáo vụ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055096" y="1737360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173968" y="2029968"/>
            <a:ext cx="54864" cy="38404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945368" y="2139696"/>
            <a:ext cx="512064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201400" y="2414016"/>
            <a:ext cx="0" cy="27432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201400" y="2414016"/>
            <a:ext cx="201168" cy="27432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424160" y="27249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Giảng viên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055096" y="420624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173968" y="4498848"/>
            <a:ext cx="54864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945368" y="4608576"/>
            <a:ext cx="512064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201400" y="4882896"/>
            <a:ext cx="0" cy="27432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201400" y="4882896"/>
            <a:ext cx="201168" cy="27432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424160" y="51937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Sinh viên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0" y="178308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703320" y="1783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Đăng nhập &amp; phân quyền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178308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72200" y="1783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tài khoản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0" y="251460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7033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đợt đồ án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251460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7220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nhóm &amp; đề tài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0" y="324612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70332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Nộp bài &amp; gia hạn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26480" y="324612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7220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 theo tiêu chí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0" y="39776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703320" y="3977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Tổng hợp điểm &amp; phúc khảo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26480" y="39776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172200" y="3977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&amp; thông báo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92040" y="470916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37760" y="4709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 ký hoạt động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306039" y="2066888"/>
            <a:ext cx="1985800" cy="4537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340545" y="4571999"/>
            <a:ext cx="1951294" cy="73147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458200" y="2103120"/>
            <a:ext cx="0" cy="1417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0881360" y="4572000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291840" y="6172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Bốn nhóm người dùng thao tác trên cùng một hệ thống, mỗi vai trò được phân quyền phù hợp.</a:t>
            </a:r>
            <a:endParaRPr lang="en-US" sz="1100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52EDE60-DC18-E7B8-1A41-5209F249F9F7}"/>
              </a:ext>
            </a:extLst>
          </p:cNvPr>
          <p:cNvCxnSpPr/>
          <p:nvPr/>
        </p:nvCxnSpPr>
        <p:spPr>
          <a:xfrm>
            <a:off x="8869680" y="2331720"/>
            <a:ext cx="2185416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3887396-2183-64EF-AD9A-7C4A7C3C5AF5}"/>
              </a:ext>
            </a:extLst>
          </p:cNvPr>
          <p:cNvCxnSpPr/>
          <p:nvPr/>
        </p:nvCxnSpPr>
        <p:spPr>
          <a:xfrm flipV="1">
            <a:off x="8869680" y="4822166"/>
            <a:ext cx="2185416" cy="6073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TÍCH 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Sơ đồ Use Case chi </a:t>
            </a:r>
            <a:r>
              <a:rPr lang="en-US" sz="24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tiết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063240" y="1325880"/>
            <a:ext cx="6080760" cy="4892040"/>
          </a:xfrm>
          <a:prstGeom prst="roundRect">
            <a:avLst>
              <a:gd name="adj" fmla="val 1121"/>
            </a:avLst>
          </a:prstGeom>
          <a:solidFill>
            <a:srgbClr val="F8FAFC"/>
          </a:solidFill>
          <a:ln w="19050">
            <a:solidFill>
              <a:srgbClr val="6366F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106424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KARL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" y="1600200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" y="1892808"/>
            <a:ext cx="54864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" y="2002536"/>
            <a:ext cx="512064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2276856"/>
            <a:ext cx="0" cy="27432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2276856"/>
            <a:ext cx="201168" cy="27432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" y="25877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trị viên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" y="4343400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4636008"/>
            <a:ext cx="54864" cy="38404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" y="4745736"/>
            <a:ext cx="512064" cy="0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5020056"/>
            <a:ext cx="0" cy="274320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5020056"/>
            <a:ext cx="201168" cy="274320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" y="53309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Giáo vụ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100816" y="1600200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219688" y="1892808"/>
            <a:ext cx="54864" cy="38404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991088" y="2002536"/>
            <a:ext cx="512064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247120" y="2276856"/>
            <a:ext cx="0" cy="27432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247120" y="2276856"/>
            <a:ext cx="201168" cy="27432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469880" y="25877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Giảng viên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100816" y="434340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219688" y="4636008"/>
            <a:ext cx="54864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991088" y="4745736"/>
            <a:ext cx="512064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247120" y="5020056"/>
            <a:ext cx="0" cy="27432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247120" y="5020056"/>
            <a:ext cx="201168" cy="27432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469880" y="53309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Sinh viên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480560" y="14630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26280" y="1463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Đăng nhập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21488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37560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tài khoản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91840" y="278892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3756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Xem nhật ký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1840" y="342900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3756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đợt đồ án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91840" y="406908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337560" y="4069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danh sách SV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91840" y="470916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37560" y="4709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lập tiêu chí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91840" y="53492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337560" y="5349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Tổng hợp điểm &amp; phúc khảo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897880" y="21488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943600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Duyệt / phê duyệt đề tài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97880" y="278892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94360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 dõi tiến độ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897880" y="342900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94360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897880" y="406908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43600" y="4069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&amp; thông báo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897880" y="470916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943600" y="4709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Đăng ký nhóm &amp; đề tài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897880" y="53492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943600" y="5349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Nộp bài &amp; xin gia hạn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143000" y="1965960"/>
            <a:ext cx="2148840" cy="41148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143000" y="1965960"/>
            <a:ext cx="2148840" cy="105156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 flipV="1">
            <a:off x="1143000" y="1691640"/>
            <a:ext cx="3337560" cy="27432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 flipV="1">
            <a:off x="1143000" y="3657600"/>
            <a:ext cx="2148840" cy="105156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 flipV="1">
            <a:off x="1143000" y="4297680"/>
            <a:ext cx="2148840" cy="41148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143000" y="4709160"/>
            <a:ext cx="2148840" cy="22860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143000" y="4709160"/>
            <a:ext cx="2148840" cy="86868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 flipV="1">
            <a:off x="8229600" y="1965960"/>
            <a:ext cx="2651760" cy="41148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 flipV="1">
            <a:off x="8229600" y="1965960"/>
            <a:ext cx="2651760" cy="105156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 flipV="1">
            <a:off x="8229600" y="1965960"/>
            <a:ext cx="2651760" cy="169164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 flipV="1">
            <a:off x="8229600" y="1965960"/>
            <a:ext cx="2651760" cy="233172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 flipV="1">
            <a:off x="8229600" y="4709160"/>
            <a:ext cx="2651760" cy="22860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 flipV="1">
            <a:off x="8229600" y="4709160"/>
            <a:ext cx="2651760" cy="86868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229600" y="4297680"/>
            <a:ext cx="2651760" cy="41148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063240" y="630936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Bản chi tiết: mỗi tác nhân nối trực tiếp tới các chức năng (use case) mà họ thực hiện — đúng chuẩn UML, nhưng nhiều đường nối nên phù hợp làm phụ lục hơn là trình chiếu chính.</a:t>
            </a:r>
            <a:endParaRPr lang="en-US" sz="950" dirty="0"/>
          </a:p>
        </p:txBody>
      </p:sp>
      <p:sp>
        <p:nvSpPr>
          <p:cNvPr id="89" name="Shape 62">
            <a:extLst>
              <a:ext uri="{FF2B5EF4-FFF2-40B4-BE49-F238E27FC236}">
                <a16:creationId xmlns:a16="http://schemas.microsoft.com/office/drawing/2014/main" id="{24A3405A-0A93-436C-148D-3AF32492BF82}"/>
              </a:ext>
            </a:extLst>
          </p:cNvPr>
          <p:cNvSpPr/>
          <p:nvPr/>
        </p:nvSpPr>
        <p:spPr>
          <a:xfrm flipV="1">
            <a:off x="1188720" y="4389120"/>
            <a:ext cx="4709160" cy="27432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1" name="Shape 62">
            <a:extLst>
              <a:ext uri="{FF2B5EF4-FFF2-40B4-BE49-F238E27FC236}">
                <a16:creationId xmlns:a16="http://schemas.microsoft.com/office/drawing/2014/main" id="{68F4CD63-4466-3794-14C5-C82BA85D0B30}"/>
              </a:ext>
            </a:extLst>
          </p:cNvPr>
          <p:cNvSpPr/>
          <p:nvPr/>
        </p:nvSpPr>
        <p:spPr>
          <a:xfrm flipV="1">
            <a:off x="1211581" y="1931627"/>
            <a:ext cx="3616452" cy="274320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5" name="Shape 66">
            <a:extLst>
              <a:ext uri="{FF2B5EF4-FFF2-40B4-BE49-F238E27FC236}">
                <a16:creationId xmlns:a16="http://schemas.microsoft.com/office/drawing/2014/main" id="{B6E3CD7C-5F30-A2B3-FCAE-5D5A6554026F}"/>
              </a:ext>
            </a:extLst>
          </p:cNvPr>
          <p:cNvSpPr/>
          <p:nvPr/>
        </p:nvSpPr>
        <p:spPr>
          <a:xfrm>
            <a:off x="6858000" y="1755648"/>
            <a:ext cx="4014216" cy="18288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Shape 66">
            <a:extLst>
              <a:ext uri="{FF2B5EF4-FFF2-40B4-BE49-F238E27FC236}">
                <a16:creationId xmlns:a16="http://schemas.microsoft.com/office/drawing/2014/main" id="{81A56AC1-415C-78E7-797B-3987A51D3E25}"/>
              </a:ext>
            </a:extLst>
          </p:cNvPr>
          <p:cNvSpPr/>
          <p:nvPr/>
        </p:nvSpPr>
        <p:spPr>
          <a:xfrm>
            <a:off x="6775704" y="1792224"/>
            <a:ext cx="4059936" cy="2916936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 SẢN PHẨM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Chức năng của Sinh viên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C:\Users\Admin\Desktop\rp\Mangagement_project\screenshots_real_ui\04_Dashboard_Sang_SinhVie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63040"/>
            <a:ext cx="2628900" cy="16299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Trang tổng quan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147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C:\Users\Admin\Desktop\rp\Mangagement_project\screenshots_real_ui\07_QuanLy_Nhom_SinhVie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60420" y="1463040"/>
            <a:ext cx="2628900" cy="16299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604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nhóm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722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C:\Users\Admin\Desktop\rp\Mangagement_project\screenshots_real_ui\08_Kho_DeTai_SinhVie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463040"/>
            <a:ext cx="2628900" cy="16299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</a:t>
            </a:r>
            <a:r>
              <a:rPr lang="en-US" sz="10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lý</a:t>
            </a: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đề tài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0297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44896" y="1435608"/>
            <a:ext cx="2659424" cy="16756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754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Nộp bài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02920" y="3504438"/>
            <a:ext cx="11201400" cy="2804922"/>
          </a:xfrm>
          <a:prstGeom prst="roundRect">
            <a:avLst>
              <a:gd name="adj" fmla="val 260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77240" y="3641598"/>
            <a:ext cx="10698480" cy="2622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Tạo nhóm, mời thành viên, đăng ký &amp; xin đổi đề tài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Nộp bài theo từng giai đoạn, xin gia hạn, xem điểm &amp; phúc khảo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 responsive, chế độ Sáng / Tối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 SẢN PHẨM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Chức năng của Giảng viên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672840" cy="231190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C:\Users\Admin\Desktop\rp\Mangagement_project\screenshots_real_ui\17_Dashboard_Toi_GiangVie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63040"/>
            <a:ext cx="3581400" cy="22204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738372"/>
            <a:ext cx="358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Tổng quan giảng viên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67200" y="1417320"/>
            <a:ext cx="3672840" cy="231190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12920" y="1517904"/>
            <a:ext cx="3581400" cy="21656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12920" y="3738372"/>
            <a:ext cx="358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 dõi tiến độ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77200" y="1417320"/>
            <a:ext cx="3672840" cy="231190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77200" y="1435608"/>
            <a:ext cx="3627120" cy="22661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22920" y="3738372"/>
            <a:ext cx="358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 theo tiêu chí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02920" y="4094988"/>
            <a:ext cx="11201400" cy="2214372"/>
          </a:xfrm>
          <a:prstGeom prst="roundRect">
            <a:avLst>
              <a:gd name="adj" fmla="val 330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777240" y="4232148"/>
            <a:ext cx="10698480" cy="2031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 dõi tiến độ các nhóm phụ trách, duyệt bài nộp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 theo tiêu chí, hệ thống tự tính điểm theo trọng số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Trao đổi với sinh viên qua chat thời gian thực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 SẢN PHẨM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Chức năng của Giáo vụ &amp; Quản trị viên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C:\Users\Admin\Desktop\rp\Mangagement_project\screenshots_real_ui\20_DanhSach_SinhVien_GiaoV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63040"/>
            <a:ext cx="2628900" cy="16299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Danh sách sinh viên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147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C:\Users\Admin\Desktop\rp\Mangagement_project\screenshots_real_ui\22_BangDiem_TongHop_GiaoVu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60420" y="1463040"/>
            <a:ext cx="2628900" cy="16299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604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Bảng điểm tổng hợp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722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C:\Users\Admin\Desktop\rp\Mangagement_project\screenshots_real_ui\24_QuanLy_TaiKhoan_Admi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463040"/>
            <a:ext cx="2628900" cy="16299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</a:t>
            </a:r>
            <a:r>
              <a:rPr lang="en-US" sz="10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tài</a:t>
            </a: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khoản</a:t>
            </a: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admin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0297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C:\Users\Admin\Desktop\rp\Mangagement_project\screenshots_real_ui\26_NhatKy_HoatDong_Admin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75420" y="1463040"/>
            <a:ext cx="2628900" cy="16299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754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 ký hoạt động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02920" y="3504438"/>
            <a:ext cx="11201400" cy="2804922"/>
          </a:xfrm>
          <a:prstGeom prst="roundRect">
            <a:avLst>
              <a:gd name="adj" fmla="val 260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77240" y="3641598"/>
            <a:ext cx="10698480" cy="2622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Giáo vụ: quản lý đợt đồ án, danh sách SV, tổng hợp điểm, xử lý phúc khảo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trị viên: quản lý tài khoản, phân quyền, xem nhật ký toàn hệ thống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KỸ THUẬT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Điểm nổi bật kỹ thuật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Thời gian thực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&amp; thông báo hiển thị ngay, không tải lại trang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quyền 2 mức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Quyền theo vai trò &amp; theo từng đồ án cụ thể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Bảo mật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Mã hóa mật khẩu, chống dò mật khẩu, chống truy cập trái phép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Kiến trúc rõ ràng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Chia tách chức năng, dễ bảo trì &amp; mở rộng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Trí tuệ nhân tạo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Gợi ý &amp; phát hiện đề tài trùng lặp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thử tự động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Đảm bảo chất lượng giao diện &amp; chức năng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QUẢ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quả đạt được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" y="17282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1728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5087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Đăng nhập &amp; phân quyền 4 vai trò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28232" y="17282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28232" y="1728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03720" y="15087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tài khoản người dùng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26426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2642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4231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đợt đồ án &amp; danh sách SV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24231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28232" y="26426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28232" y="2642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24231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Tạo nhóm, đăng ký &amp; duyệt đề tài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3375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3232" y="35570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" y="3557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3375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Nộp bài, xin gia hạn, đổi đề tài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33375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28232" y="35570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28232" y="3557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33375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 &amp; tổng hợp điểm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42519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3232" y="44714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3232" y="44714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88720" y="42519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Xử lý phúc khảo điểm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63640" y="42519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28232" y="44714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28232" y="44714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42519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&amp; thông báo thời gian thực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" y="51663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13232" y="53858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3232" y="5385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88720" y="51663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 ký hoạt động hệ thống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263640" y="51663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428232" y="53858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28232" y="5385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03720" y="51663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 responsive, Sáng / Tối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đã hoàn thiện đầy đủ chức năng, chạy ổn định, sẵn sàng triển khai.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8229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LUẬN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0" y="1508760"/>
            <a:ext cx="2130552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8869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E7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Đã xây dựng hệ thống quản lý đồ án hoàn chỉnh với 4 vai trò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E7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Số hóa toàn bộ quy trình: đăng ký - nộp bài - chấm điểm - phúc khảo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E7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Ứng dụng đầy đủ kỹ thuật Web nâng cao: thời gian thực, phân quyền, bảo mật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E7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 responsive, dark/light, trải nghiệm thân thiện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45920" y="402336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Hướng phát triển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45920" y="4434840"/>
            <a:ext cx="8869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Mở rộng module AI: chấm điểm sơ bộ, phát hiện đạo văn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Tích hợp SSO trường học &amp; thông báo qua email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Báo cáo thống kê - dashboard phân tích cho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lý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C7D2FE"/>
              </a:solidFill>
              <a:effectLst/>
              <a:uLnTx/>
              <a:uFillTx/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Mở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rộng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phạm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vi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lên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toàn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trường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thành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viên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của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Đại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Học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Phenikaa</a:t>
            </a:r>
            <a:endParaRPr lang="en-US" sz="1400" dirty="0">
              <a:solidFill>
                <a:prstClr val="black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023360" y="5852160"/>
            <a:ext cx="4114800" cy="6400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23360" y="58521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Cảm ơn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thầy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các bạn đã lắng nghe!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THỬ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 tiêu biểu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Đăng nhập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tra đăng nhập đúng/sai, khóa tài khoản và điều hướng theo vai trò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quyền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Sinh viên, giảng viên, giáo vụ chỉ truy cập chức năng được phép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 &amp; dữ liệu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Chặn tải file không thuộc quyền, kiểm tra token hết hạn và dữ liệu mềm xóa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Luồng sinh viên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Tạo nhóm, đề xuất/đổi đề tài, nộp bài theo milestone và xem điểm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Luồng giảng viên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Duyệt đề tài, phản hồi bài nộp, nhập điểm và khóa phiếu chấm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Luồng giáo vụ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Tạo đợt, import danh sách, công bố điểm và xử lý phúc khảo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BẢO MẬT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Các lớp bảo vệ chính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Xác thực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JWT kiểm tra phiên đăng nhập, token hết hạn bị từ chối và điều hướng về đăng nhập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Mật khẩu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Mật khẩu được băm bằng bcrypt, không lưu mật khẩu gốc trong cơ sở dữ liệu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quyền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 theo vai trò kết hợp kiểm tra chủ sở hữu từng đồ án, nhóm và bài nộp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Tệp tin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Upload qua API bảo vệ, kiểm tra MIME/kích thước và chỉ cấp quyền tải cho người liên quan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Dữ liệu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Dữ liệu nghiệp vụ dùng soft delete, truy vấn mặc định loại bỏ bản ghi đã xóa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tra đầu vào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 form/API rõ ràng, chặn thiếu trường bắt buộc và thao tác sai trạng thái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THỬ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 tiêu biểu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Đăng nhập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tra đăng nhập đúng/sai, khóa tài khoản và điều hướng theo vai trò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quyền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Sinh viên, giảng viên, giáo vụ chỉ truy cập chức năng được phép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 &amp; dữ liệu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Chặn tải file không thuộc quyền, kiểm tra token hết hạn và dữ liệu mềm xóa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Luồng sinh viên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Tạo nhóm, đề xuất/đổi đề tài, nộp bài theo milestone và xem điểm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Luồng giảng viên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Duyệt đề tài, phản hồi bài nộp, nhập điểm và khóa phiếu chấm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Luồng giáo vụ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Tạo đợt, import danh sách, công bố điểm và xử lý phúc khảo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100</ns0:TotalTime>
  <ns0:Words>1511</ns0:Words>
  <ns0:Application>Microsoft Office PowerPoint</ns0:Application>
  <ns0:PresentationFormat>Widescreen</ns0:PresentationFormat>
  <ns0:Paragraphs>275</ns0:Paragraphs>
  <ns0:Slides>15</ns0:Slides>
  <ns0:Notes>14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4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14</ns1:i4>
      </ns1:variant>
    </ns1:vector>
  </ns0:HeadingPairs>
  <ns0:TitlesOfParts>
    <ns1:vector size="19" baseType="lpstr">
      <ns1:lpstr>Aptos</ns1:lpstr>
      <ns1:lpstr>Arial</ns1:lpstr>
      <ns1:lpstr>Calibri</ns1:lpstr>
      <ns1:lpstr>Times New Roman</ns1:lpstr>
      <ns1:lpstr>Office Theme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</ns1:vector>
  </ns0:TitlesOfParts>
  <ns0:Company>PptxGenJS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Hệ thống Quản lý Đồ án - Karl (7 phút)</dc:title>
  <dc:subject>PptxGenJS Presentation</dc:subject>
  <dc:creator>Nhóm Web Nâng Cao</dc:creator>
  <cp:lastModifiedBy>Nguyen Tuan Anh</cp:lastModifiedBy>
  <cp:revision>16</cp:revision>
  <dcterms:created xsi:type="dcterms:W3CDTF">2026-07-15T17:50:09Z</dcterms:created>
  <dcterms:modified xsi:type="dcterms:W3CDTF">2026-07-16T07:01:07Z</dcterms:modified>
</cp:coreProperties>
</file>